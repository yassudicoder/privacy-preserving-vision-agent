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07/s11633-023-1423-y" TargetMode="External"/><Relationship Id="rId3" Type="http://schemas.openxmlformats.org/officeDocument/2006/relationships/hyperlink" Target="https://github.com/ShiqiYu/libfacedetection" TargetMode="External"/><Relationship Id="rId4" Type="http://schemas.openxmlformats.org/officeDocument/2006/relationships/hyperlink" Target="https://onnxruntime.ai/docs/tutorials/web/" TargetMode="External"/><Relationship Id="rId5" Type="http://schemas.openxmlformats.org/officeDocument/2006/relationships/hyperlink" Target="https://www.w3.org/TR/webgpu/" TargetMode="External"/><Relationship Id="rId6" Type="http://schemas.openxmlformats.org/officeDocument/2006/relationships/hyperlink" Target="https://developer.chrome.com/docs/extensions/reference/api/offscreen" TargetMode="External"/><Relationship Id="rId7" Type="http://schemas.openxmlformats.org/officeDocument/2006/relationships/hyperlink" Target="https://bugzilla.mozilla.org/show_bug.cgi?id=1573659" TargetMode="External"/><Relationship Id="rId8" Type="http://schemas.openxmlformats.org/officeDocument/2006/relationships/hyperlink" Target="https://owasp.org/www-project-top-10-for-large-language-model-applications/" TargetMode="External"/><Relationship Id="rId9" Type="http://schemas.openxmlformats.org/officeDocument/2006/relationships/hyperlink" Target="https://doi.org/10.6028/NIST.SP.800-122" TargetMode="External"/><Relationship Id="rId10" Type="http://schemas.openxmlformats.org/officeDocument/2006/relationships/hyperlink" Target="https://www.meity.gov.in/data-protection-framework" TargetMode="External"/><Relationship Id="rId11" Type="http://schemas.openxmlformats.org/officeDocument/2006/relationships/hyperlink" Target="https://github.com/yassudicoder/Privacy-Preserving-Vision-Agent" TargetMode="External"/><Relationship Id="rId1" Type="http://schemas.openxmlformats.org/officeDocument/2006/relationships/image" Target="../media/image-6-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40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" y="384048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</p:spPr>
      </p:sp>
      <p:pic>
        <p:nvPicPr>
          <p:cNvPr id="4" name="Image 0" descr="C:\Users\yashd\Downloads\SIH\ppt-assets\team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1480"/>
            <a:ext cx="996696" cy="9966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74520" y="457200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FC8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INDIA HACKATHON 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874520" y="768096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REGEX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874520" y="111556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 smarter  •  Stay private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" y="1627632"/>
            <a:ext cx="5577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Privacy-Preserving Vision Agent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685800" y="2615184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browser agent that reads your screen without ever receiving your data.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127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3438144"/>
            <a:ext cx="3017520" cy="1975104"/>
          </a:xfrm>
          <a:prstGeom prst="roundRect">
            <a:avLst>
              <a:gd name="adj" fmla="val 3241"/>
            </a:avLst>
          </a:prstGeom>
          <a:solidFill>
            <a:srgbClr val="0E3450"/>
          </a:solidFill>
          <a:ln w="19050">
            <a:solidFill>
              <a:srgbClr val="0A7F7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3520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7FC8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YOUR DEVICE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50392" y="3822192"/>
            <a:ext cx="2688336" cy="310896"/>
          </a:xfrm>
          <a:prstGeom prst="roundRect">
            <a:avLst>
              <a:gd name="adj" fmla="val 26471"/>
            </a:avLst>
          </a:prstGeom>
          <a:solidFill>
            <a:srgbClr val="17496B"/>
          </a:solidFill>
          <a:ln w="9525">
            <a:solidFill>
              <a:srgbClr val="2A6B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3822192"/>
            <a:ext cx="2514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A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page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0392" y="4197096"/>
            <a:ext cx="2688336" cy="310896"/>
          </a:xfrm>
          <a:prstGeom prst="roundRect">
            <a:avLst>
              <a:gd name="adj" fmla="val 26471"/>
            </a:avLst>
          </a:prstGeom>
          <a:solidFill>
            <a:srgbClr val="17496B"/>
          </a:solidFill>
          <a:ln w="9525">
            <a:solidFill>
              <a:srgbClr val="2A6B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197096"/>
            <a:ext cx="2514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A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vision model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50392" y="4572000"/>
            <a:ext cx="2688336" cy="310896"/>
          </a:xfrm>
          <a:prstGeom prst="roundRect">
            <a:avLst>
              <a:gd name="adj" fmla="val 26471"/>
            </a:avLst>
          </a:prstGeom>
          <a:solidFill>
            <a:srgbClr val="17496B"/>
          </a:solidFill>
          <a:ln w="9525">
            <a:solidFill>
              <a:srgbClr val="2A6B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4572000"/>
            <a:ext cx="2514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A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Redact text + pixels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0392" y="4946904"/>
            <a:ext cx="2688336" cy="310896"/>
          </a:xfrm>
          <a:prstGeom prst="roundRect">
            <a:avLst>
              <a:gd name="adj" fmla="val 26471"/>
            </a:avLst>
          </a:prstGeom>
          <a:solidFill>
            <a:srgbClr val="17496B"/>
          </a:solidFill>
          <a:ln w="9525">
            <a:solidFill>
              <a:srgbClr val="2A6B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0120" y="4946904"/>
            <a:ext cx="2514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A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 statistics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913632" y="3438144"/>
            <a:ext cx="0" cy="1975104"/>
          </a:xfrm>
          <a:prstGeom prst="line">
            <a:avLst/>
          </a:prstGeom>
          <a:noFill/>
          <a:ln w="25400">
            <a:solidFill>
              <a:srgbClr val="F2B441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3310128" y="5449824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spc="30" kern="0" dirty="0">
                <a:solidFill>
                  <a:srgbClr val="F2B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BOUNDARY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3712464" y="4279392"/>
            <a:ext cx="402336" cy="274320"/>
          </a:xfrm>
          <a:prstGeom prst="rightArrow">
            <a:avLst/>
          </a:prstGeom>
          <a:solidFill>
            <a:srgbClr val="F2B441"/>
          </a:solidFill>
          <a:ln/>
        </p:spPr>
      </p:sp>
      <p:sp>
        <p:nvSpPr>
          <p:cNvPr id="24" name="Shape 21"/>
          <p:cNvSpPr/>
          <p:nvPr/>
        </p:nvSpPr>
        <p:spPr>
          <a:xfrm>
            <a:off x="4279392" y="3438144"/>
            <a:ext cx="1828800" cy="1975104"/>
          </a:xfrm>
          <a:prstGeom prst="roundRect">
            <a:avLst>
              <a:gd name="adj" fmla="val 3500"/>
            </a:avLst>
          </a:prstGeom>
          <a:solidFill>
            <a:srgbClr val="0E3450"/>
          </a:solidFill>
          <a:ln w="12700">
            <a:solidFill>
              <a:srgbClr val="2A6B8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34840" y="352044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SERVER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34840" y="3803904"/>
            <a:ext cx="15361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A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Sees only sanitized context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34840" y="4261104"/>
            <a:ext cx="15361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A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 exactly ONE action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434840" y="4791456"/>
            <a:ext cx="1536192" cy="457200"/>
          </a:xfrm>
          <a:prstGeom prst="roundRect">
            <a:avLst>
              <a:gd name="adj" fmla="val 18000"/>
            </a:avLst>
          </a:prstGeom>
          <a:solidFill>
            <a:srgbClr val="3A2410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62272" y="4791456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4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sees raw PII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6382512" y="1627632"/>
            <a:ext cx="5120640" cy="4315968"/>
          </a:xfrm>
          <a:prstGeom prst="roundRect">
            <a:avLst>
              <a:gd name="adj" fmla="val 1059"/>
            </a:avLst>
          </a:prstGeom>
          <a:solidFill>
            <a:srgbClr val="0E3450"/>
          </a:solidFill>
          <a:ln w="12700">
            <a:solidFill>
              <a:srgbClr val="2A6B8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56832" y="18105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ID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656832" y="20116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SIH26171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656832" y="238658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TITLE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656832" y="258775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Privacy-Preserving Vision Agent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656832" y="296265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ORGANISATION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656832" y="316382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ISRO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656832" y="35387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656832" y="373989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Space Technology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656832" y="411480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 CATEGORY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6656832" y="43159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656832" y="469087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NAME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6656832" y="48920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REGEX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6656832" y="526694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FB4A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ID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6656832" y="546811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&lt;TEAM ID&gt;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6382512" y="6053328"/>
            <a:ext cx="51206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</p:sp>
      <p:pic>
        <p:nvPicPr>
          <p:cNvPr id="46" name="Image 1" descr="C:\Users\yashd\Downloads\SIH\ppt-assets\sih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6144768"/>
            <a:ext cx="4937760" cy="652280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685800" y="60533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vision  •  On-device redaction  •  Sanitized context  •  One validated action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54864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SOLUTION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573975" y="54864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REGEX  |  SIH26171  |  ISRO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295583" y="100584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pic>
        <p:nvPicPr>
          <p:cNvPr id="6" name="Image 0" descr="C:\Users\yashd\Downloads\SIH\ppt-assets\team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3871" y="118872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88696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Privacy-preserving browser automation, with the boundary enforced by the compiler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1148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" y="1024128"/>
            <a:ext cx="3456432" cy="2670048"/>
          </a:xfrm>
          <a:prstGeom prst="roundRect">
            <a:avLst>
              <a:gd name="adj" fmla="val 2055"/>
            </a:avLst>
          </a:prstGeom>
          <a:solidFill>
            <a:srgbClr val="FDF1F0"/>
          </a:solidFill>
          <a:ln w="12700">
            <a:solidFill>
              <a:srgbClr val="A32B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0040" y="1024128"/>
            <a:ext cx="64008" cy="2670048"/>
          </a:xfrm>
          <a:prstGeom prst="rect">
            <a:avLst/>
          </a:prstGeom>
          <a:solidFill>
            <a:srgbClr val="A32B20"/>
          </a:solidFill>
          <a:ln/>
        </p:spPr>
      </p:sp>
      <p:sp>
        <p:nvSpPr>
          <p:cNvPr id="11" name="Text 8"/>
          <p:cNvSpPr/>
          <p:nvPr/>
        </p:nvSpPr>
        <p:spPr>
          <a:xfrm>
            <a:off x="521208" y="1115568"/>
            <a:ext cx="30906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B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Problems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39496" y="1463040"/>
            <a:ext cx="3035808" cy="212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upload your entire screen to a cloud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Passwords, IDs and cards leave the device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leak what redacted text does not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"We don't store data" is a promise, not a proof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Hostile pages hijack agents by prompt injection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click freely, with no bounded authority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0040" y="3803904"/>
            <a:ext cx="3456432" cy="2615184"/>
          </a:xfrm>
          <a:prstGeom prst="roundRect">
            <a:avLst>
              <a:gd name="adj" fmla="val 2098"/>
            </a:avLst>
          </a:prstGeom>
          <a:solidFill>
            <a:srgbClr val="FDF6EA"/>
          </a:solidFill>
          <a:ln w="12700">
            <a:solidFill>
              <a:srgbClr val="B26A1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" y="3803904"/>
            <a:ext cx="64008" cy="2615184"/>
          </a:xfrm>
          <a:prstGeom prst="rect">
            <a:avLst/>
          </a:prstGeom>
          <a:solidFill>
            <a:srgbClr val="B26A10"/>
          </a:solidFill>
          <a:ln/>
        </p:spPr>
      </p:sp>
      <p:sp>
        <p:nvSpPr>
          <p:cNvPr id="15" name="Text 12"/>
          <p:cNvSpPr/>
          <p:nvPr/>
        </p:nvSpPr>
        <p:spPr>
          <a:xfrm>
            <a:off x="521208" y="3895344"/>
            <a:ext cx="30906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6A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Problems Addressed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39496" y="4242816"/>
            <a:ext cx="3035808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raw PII transmission, enforced structurally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 leakage closed by pixel redaction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injection blocked at the type level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authority bounded by a validated allowlist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vendor lock-in: four backends, one boundary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made auditable, not merely asserted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941064" y="1024128"/>
            <a:ext cx="3950208" cy="2670048"/>
          </a:xfrm>
          <a:prstGeom prst="roundRect">
            <a:avLst>
              <a:gd name="adj" fmla="val 2055"/>
            </a:avLst>
          </a:prstGeom>
          <a:solidFill>
            <a:srgbClr val="E7F2F0"/>
          </a:solidFill>
          <a:ln w="12700">
            <a:solidFill>
              <a:srgbClr val="0A7F7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41064" y="1024128"/>
            <a:ext cx="64008" cy="2670048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19" name="Text 16"/>
          <p:cNvSpPr/>
          <p:nvPr/>
        </p:nvSpPr>
        <p:spPr>
          <a:xfrm>
            <a:off x="4142232" y="1115568"/>
            <a:ext cx="35844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Solution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160520" y="1463040"/>
            <a:ext cx="3529584" cy="212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local vision model reads the screen on-device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PII detected and redacted BEFORE anything leaves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 and pixels redacted to the same standard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fail-closed egress gates verify every payload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content is typed as data, never as instruction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returns ONE action; the client validates it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Statistics computed locally: ~40 numbers, not 150,000 tokens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941064" y="3803904"/>
            <a:ext cx="3950208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1240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941064" y="3803904"/>
            <a:ext cx="64008" cy="2615184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23" name="Text 20"/>
          <p:cNvSpPr/>
          <p:nvPr/>
        </p:nvSpPr>
        <p:spPr>
          <a:xfrm>
            <a:off x="4142232" y="3895344"/>
            <a:ext cx="35844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Value Proposition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160520" y="4242816"/>
            <a:ext cx="3529584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is a TYPE, not a policy - compiler-enforced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fully offline: on-device backend needs no network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boundary for every backend, byte-identical payloads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Per-step privacy receipt: no line may be a constant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232 KB vision model at 30.3 ms - runs on any laptop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and Firefox MV3 from one source tree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055864" y="1024128"/>
            <a:ext cx="3813048" cy="5394960"/>
          </a:xfrm>
          <a:prstGeom prst="roundRect">
            <a:avLst>
              <a:gd name="adj" fmla="val 1199"/>
            </a:avLst>
          </a:prstGeom>
          <a:solidFill>
            <a:srgbClr val="12405C"/>
          </a:solidFill>
          <a:ln/>
        </p:spPr>
      </p:sp>
      <p:sp>
        <p:nvSpPr>
          <p:cNvPr id="26" name="Text 23"/>
          <p:cNvSpPr/>
          <p:nvPr/>
        </p:nvSpPr>
        <p:spPr>
          <a:xfrm>
            <a:off x="8257032" y="1133856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FC8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PROVEN, NOT CLAIMED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257032" y="1572768"/>
            <a:ext cx="3401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232,589 B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8257032" y="195681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on-device vision model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257032" y="2368296"/>
            <a:ext cx="3401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30.3 ms</a:t>
            </a:r>
            <a:endParaRPr lang="en-US" sz="2500" dirty="0"/>
          </a:p>
        </p:txBody>
      </p:sp>
      <p:sp>
        <p:nvSpPr>
          <p:cNvPr id="30" name="Text 27"/>
          <p:cNvSpPr/>
          <p:nvPr/>
        </p:nvSpPr>
        <p:spPr>
          <a:xfrm>
            <a:off x="8257032" y="2752344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inference, p50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257032" y="3163824"/>
            <a:ext cx="3401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1,133</a:t>
            </a:r>
            <a:endParaRPr lang="en-US" sz="2500" dirty="0"/>
          </a:p>
        </p:txBody>
      </p:sp>
      <p:sp>
        <p:nvSpPr>
          <p:cNvPr id="32" name="Text 29"/>
          <p:cNvSpPr/>
          <p:nvPr/>
        </p:nvSpPr>
        <p:spPr>
          <a:xfrm>
            <a:off x="8257032" y="3547872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tests passing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257032" y="3959352"/>
            <a:ext cx="3401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2500" dirty="0"/>
          </a:p>
        </p:txBody>
      </p:sp>
      <p:sp>
        <p:nvSpPr>
          <p:cNvPr id="34" name="Text 31"/>
          <p:cNvSpPr/>
          <p:nvPr/>
        </p:nvSpPr>
        <p:spPr>
          <a:xfrm>
            <a:off x="8257032" y="4343400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records ever transmitted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257032" y="4754880"/>
            <a:ext cx="3401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500" dirty="0"/>
          </a:p>
        </p:txBody>
      </p:sp>
      <p:sp>
        <p:nvSpPr>
          <p:cNvPr id="36" name="Text 33"/>
          <p:cNvSpPr/>
          <p:nvPr/>
        </p:nvSpPr>
        <p:spPr>
          <a:xfrm>
            <a:off x="8257032" y="5138928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fail-closed gates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8257032" y="5550408"/>
            <a:ext cx="3401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1,032x</a:t>
            </a:r>
            <a:endParaRPr lang="en-US" sz="2500" dirty="0"/>
          </a:p>
        </p:txBody>
      </p:sp>
      <p:sp>
        <p:nvSpPr>
          <p:cNvPr id="38" name="Text 35"/>
          <p:cNvSpPr/>
          <p:nvPr/>
        </p:nvSpPr>
        <p:spPr>
          <a:xfrm>
            <a:off x="8257032" y="593445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9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 redaction after fix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54864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APPROACH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573975" y="54864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REGEX  |  SIH26171  |  ISRO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295583" y="100584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pic>
        <p:nvPicPr>
          <p:cNvPr id="6" name="Image 0" descr="C:\Users\yashd\Downloads\SIH\ppt-assets\team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3871" y="118872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88696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browser perception to one validated action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1148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" y="1005840"/>
            <a:ext cx="4709160" cy="5413248"/>
          </a:xfrm>
          <a:prstGeom prst="roundRect">
            <a:avLst>
              <a:gd name="adj" fmla="val 97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" y="1097280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30352" y="1417320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850" dirty="0"/>
          </a:p>
        </p:txBody>
      </p:sp>
      <p:pic>
        <p:nvPicPr>
          <p:cNvPr id="12" name="Image 1" descr="C:\Users\yashd\Downloads\SIH\ppt-assets\logos\typescrip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55064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3192" y="207568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750" dirty="0"/>
          </a:p>
        </p:txBody>
      </p:sp>
      <p:pic>
        <p:nvPicPr>
          <p:cNvPr id="14" name="Image 2" descr="C:\Users\yashd\Downloads\SIH\ppt-assets\logos\pre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064" y="1655064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81328" y="207568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Preact</a:t>
            </a:r>
            <a:endParaRPr lang="en-US" sz="750" dirty="0"/>
          </a:p>
        </p:txBody>
      </p:sp>
      <p:pic>
        <p:nvPicPr>
          <p:cNvPr id="16" name="Image 3" descr="C:\Users\yashd\Downloads\SIH\ppt-assets\logos\wx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1655064"/>
            <a:ext cx="402336" cy="40233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2569464" y="207568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WXT</a:t>
            </a:r>
            <a:endParaRPr lang="en-US" sz="750" dirty="0"/>
          </a:p>
        </p:txBody>
      </p:sp>
      <p:pic>
        <p:nvPicPr>
          <p:cNvPr id="18" name="Image 4" descr="C:\Users\yashd\Downloads\SIH\ppt-assets\logos\v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1336" y="1655064"/>
            <a:ext cx="402336" cy="40233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657600" y="207568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</a:t>
            </a:r>
            <a:endParaRPr lang="en-US" sz="750" dirty="0"/>
          </a:p>
        </p:txBody>
      </p:sp>
      <p:sp>
        <p:nvSpPr>
          <p:cNvPr id="20" name="Text 13"/>
          <p:cNvSpPr/>
          <p:nvPr/>
        </p:nvSpPr>
        <p:spPr>
          <a:xfrm>
            <a:off x="530352" y="2221992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EXTENSION</a:t>
            </a:r>
            <a:endParaRPr lang="en-US" sz="850" dirty="0"/>
          </a:p>
        </p:txBody>
      </p:sp>
      <p:pic>
        <p:nvPicPr>
          <p:cNvPr id="21" name="Image 5" descr="C:\Users\yashd\Downloads\SIH\ppt-assets\logos\chr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2459736"/>
            <a:ext cx="402336" cy="402336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393192" y="288036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</a:t>
            </a:r>
            <a:endParaRPr lang="en-US" sz="750" dirty="0"/>
          </a:p>
        </p:txBody>
      </p:sp>
      <p:pic>
        <p:nvPicPr>
          <p:cNvPr id="23" name="Image 6" descr="C:\Users\yashd\Downloads\SIH\ppt-assets\logos\firefo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5064" y="2459736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481328" y="288036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Firefox</a:t>
            </a:r>
            <a:endParaRPr lang="en-US" sz="750" dirty="0"/>
          </a:p>
        </p:txBody>
      </p:sp>
      <p:pic>
        <p:nvPicPr>
          <p:cNvPr id="25" name="Image 7" descr="C:\Users\yashd\Downloads\SIH\ppt-assets\logos\manifest-v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0" y="2459736"/>
            <a:ext cx="402336" cy="402336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2569464" y="288036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MV3</a:t>
            </a:r>
            <a:endParaRPr lang="en-US" sz="750" dirty="0"/>
          </a:p>
        </p:txBody>
      </p:sp>
      <p:sp>
        <p:nvSpPr>
          <p:cNvPr id="27" name="Text 17"/>
          <p:cNvSpPr/>
          <p:nvPr/>
        </p:nvSpPr>
        <p:spPr>
          <a:xfrm>
            <a:off x="530352" y="3026664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ON-DEVICE AI</a:t>
            </a:r>
            <a:endParaRPr lang="en-US" sz="850" dirty="0"/>
          </a:p>
        </p:txBody>
      </p:sp>
      <p:pic>
        <p:nvPicPr>
          <p:cNvPr id="28" name="Image 8" descr="C:\Users\yashd\Downloads\SIH\ppt-assets\logos\onnx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3264408"/>
            <a:ext cx="402336" cy="402336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393192" y="368503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ONNX RT</a:t>
            </a:r>
            <a:endParaRPr lang="en-US" sz="750" dirty="0"/>
          </a:p>
        </p:txBody>
      </p:sp>
      <p:pic>
        <p:nvPicPr>
          <p:cNvPr id="30" name="Image 9" descr="C:\Users\yashd\Downloads\SIH\ppt-assets\logos\opencv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5064" y="3264408"/>
            <a:ext cx="402336" cy="402336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481328" y="368503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YuNet</a:t>
            </a:r>
            <a:endParaRPr lang="en-US" sz="750" dirty="0"/>
          </a:p>
        </p:txBody>
      </p:sp>
      <p:pic>
        <p:nvPicPr>
          <p:cNvPr id="32" name="Image 10" descr="C:\Users\yashd\Downloads\SIH\ppt-assets\logos\webgpu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43200" y="3264408"/>
            <a:ext cx="402336" cy="402336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2569464" y="368503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WebGPU</a:t>
            </a:r>
            <a:endParaRPr lang="en-US" sz="750" dirty="0"/>
          </a:p>
        </p:txBody>
      </p:sp>
      <p:pic>
        <p:nvPicPr>
          <p:cNvPr id="34" name="Image 11" descr="C:\Users\yashd\Downloads\SIH\ppt-assets\logos\webassembl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31336" y="3264408"/>
            <a:ext cx="402336" cy="402336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3657600" y="368503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WASM</a:t>
            </a:r>
            <a:endParaRPr lang="en-US" sz="750" dirty="0"/>
          </a:p>
        </p:txBody>
      </p:sp>
      <p:sp>
        <p:nvSpPr>
          <p:cNvPr id="36" name="Text 22"/>
          <p:cNvSpPr/>
          <p:nvPr/>
        </p:nvSpPr>
        <p:spPr>
          <a:xfrm>
            <a:off x="530352" y="3831336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850" dirty="0"/>
          </a:p>
        </p:txBody>
      </p:sp>
      <p:pic>
        <p:nvPicPr>
          <p:cNvPr id="37" name="Image 12" descr="C:\Users\yashd\Downloads\SIH\ppt-assets\logos\nodej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6928" y="4069080"/>
            <a:ext cx="402336" cy="402336"/>
          </a:xfrm>
          <a:prstGeom prst="rect">
            <a:avLst/>
          </a:prstGeom>
        </p:spPr>
      </p:pic>
      <p:sp>
        <p:nvSpPr>
          <p:cNvPr id="38" name="Text 23"/>
          <p:cNvSpPr/>
          <p:nvPr/>
        </p:nvSpPr>
        <p:spPr>
          <a:xfrm>
            <a:off x="393192" y="4489704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20+</a:t>
            </a:r>
            <a:endParaRPr lang="en-US" sz="750" dirty="0"/>
          </a:p>
        </p:txBody>
      </p:sp>
      <p:pic>
        <p:nvPicPr>
          <p:cNvPr id="39" name="Image 13" descr="C:\Users\yashd\Downloads\SIH\ppt-assets\logos\rend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55064" y="4069080"/>
            <a:ext cx="402336" cy="402336"/>
          </a:xfrm>
          <a:prstGeom prst="rect">
            <a:avLst/>
          </a:prstGeom>
        </p:spPr>
      </p:pic>
      <p:sp>
        <p:nvSpPr>
          <p:cNvPr id="40" name="Text 24"/>
          <p:cNvSpPr/>
          <p:nvPr/>
        </p:nvSpPr>
        <p:spPr>
          <a:xfrm>
            <a:off x="1481328" y="4489704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endParaRPr lang="en-US" sz="750" dirty="0"/>
          </a:p>
        </p:txBody>
      </p:sp>
      <p:pic>
        <p:nvPicPr>
          <p:cNvPr id="41" name="Image 14" descr="C:\Users\yashd\Downloads\SIH\ppt-assets\logos\npm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43200" y="4069080"/>
            <a:ext cx="402336" cy="402336"/>
          </a:xfrm>
          <a:prstGeom prst="rect">
            <a:avLst/>
          </a:prstGeom>
        </p:spPr>
      </p:pic>
      <p:sp>
        <p:nvSpPr>
          <p:cNvPr id="42" name="Text 25"/>
          <p:cNvSpPr/>
          <p:nvPr/>
        </p:nvSpPr>
        <p:spPr>
          <a:xfrm>
            <a:off x="2569464" y="4489704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</a:t>
            </a:r>
            <a:endParaRPr lang="en-US" sz="750" dirty="0"/>
          </a:p>
        </p:txBody>
      </p:sp>
      <p:sp>
        <p:nvSpPr>
          <p:cNvPr id="43" name="Text 26"/>
          <p:cNvSpPr/>
          <p:nvPr/>
        </p:nvSpPr>
        <p:spPr>
          <a:xfrm>
            <a:off x="530352" y="4636008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AI</a:t>
            </a:r>
            <a:endParaRPr lang="en-US" sz="850" dirty="0"/>
          </a:p>
        </p:txBody>
      </p:sp>
      <p:pic>
        <p:nvPicPr>
          <p:cNvPr id="44" name="Image 15" descr="C:\Users\yashd\Downloads\SIH\ppt-assets\logos\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4873752"/>
            <a:ext cx="402336" cy="402336"/>
          </a:xfrm>
          <a:prstGeom prst="rect">
            <a:avLst/>
          </a:prstGeom>
        </p:spPr>
      </p:pic>
      <p:sp>
        <p:nvSpPr>
          <p:cNvPr id="45" name="Text 27"/>
          <p:cNvSpPr/>
          <p:nvPr/>
        </p:nvSpPr>
        <p:spPr>
          <a:xfrm>
            <a:off x="393192" y="529437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</a:t>
            </a:r>
            <a:endParaRPr lang="en-US" sz="750" dirty="0"/>
          </a:p>
        </p:txBody>
      </p:sp>
      <p:pic>
        <p:nvPicPr>
          <p:cNvPr id="46" name="Image 16" descr="C:\Users\yashd\Downloads\SIH\ppt-assets\logos\openai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55064" y="4873752"/>
            <a:ext cx="402336" cy="402336"/>
          </a:xfrm>
          <a:prstGeom prst="rect">
            <a:avLst/>
          </a:prstGeom>
        </p:spPr>
      </p:pic>
      <p:sp>
        <p:nvSpPr>
          <p:cNvPr id="47" name="Text 28"/>
          <p:cNvSpPr/>
          <p:nvPr/>
        </p:nvSpPr>
        <p:spPr>
          <a:xfrm>
            <a:off x="1481328" y="529437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</a:t>
            </a:r>
            <a:endParaRPr lang="en-US" sz="750" dirty="0"/>
          </a:p>
        </p:txBody>
      </p:sp>
      <p:pic>
        <p:nvPicPr>
          <p:cNvPr id="48" name="Image 17" descr="C:\Users\yashd\Downloads\SIH\ppt-assets\logos\ollam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43200" y="4873752"/>
            <a:ext cx="402336" cy="402336"/>
          </a:xfrm>
          <a:prstGeom prst="rect">
            <a:avLst/>
          </a:prstGeom>
        </p:spPr>
      </p:pic>
      <p:sp>
        <p:nvSpPr>
          <p:cNvPr id="49" name="Text 29"/>
          <p:cNvSpPr/>
          <p:nvPr/>
        </p:nvSpPr>
        <p:spPr>
          <a:xfrm>
            <a:off x="2569464" y="529437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</a:t>
            </a:r>
            <a:endParaRPr lang="en-US" sz="750" dirty="0"/>
          </a:p>
        </p:txBody>
      </p:sp>
      <p:sp>
        <p:nvSpPr>
          <p:cNvPr id="50" name="Text 30"/>
          <p:cNvSpPr/>
          <p:nvPr/>
        </p:nvSpPr>
        <p:spPr>
          <a:xfrm>
            <a:off x="530352" y="5440680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</a:t>
            </a:r>
            <a:endParaRPr lang="en-US" sz="850" dirty="0"/>
          </a:p>
        </p:txBody>
      </p:sp>
      <p:pic>
        <p:nvPicPr>
          <p:cNvPr id="51" name="Image 18" descr="C:\Users\yashd\Downloads\SIH\ppt-assets\logos\vites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6928" y="5678424"/>
            <a:ext cx="402336" cy="402336"/>
          </a:xfrm>
          <a:prstGeom prst="rect">
            <a:avLst/>
          </a:prstGeom>
        </p:spPr>
      </p:pic>
      <p:sp>
        <p:nvSpPr>
          <p:cNvPr id="52" name="Text 31"/>
          <p:cNvSpPr/>
          <p:nvPr/>
        </p:nvSpPr>
        <p:spPr>
          <a:xfrm>
            <a:off x="393192" y="609904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</a:t>
            </a:r>
            <a:endParaRPr lang="en-US" sz="750" dirty="0"/>
          </a:p>
        </p:txBody>
      </p:sp>
      <p:pic>
        <p:nvPicPr>
          <p:cNvPr id="53" name="Image 19" descr="C:\Users\yashd\Downloads\SIH\ppt-assets\logos\playwrigh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655064" y="5678424"/>
            <a:ext cx="402336" cy="402336"/>
          </a:xfrm>
          <a:prstGeom prst="rect">
            <a:avLst/>
          </a:prstGeom>
        </p:spPr>
      </p:pic>
      <p:sp>
        <p:nvSpPr>
          <p:cNvPr id="54" name="Text 32"/>
          <p:cNvSpPr/>
          <p:nvPr/>
        </p:nvSpPr>
        <p:spPr>
          <a:xfrm>
            <a:off x="1481328" y="609904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</a:t>
            </a:r>
            <a:endParaRPr lang="en-US" sz="750" dirty="0"/>
          </a:p>
        </p:txBody>
      </p:sp>
      <p:pic>
        <p:nvPicPr>
          <p:cNvPr id="55" name="Image 20" descr="C:\Users\yashd\Downloads\SIH\ppt-assets\logos\github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743200" y="5678424"/>
            <a:ext cx="402336" cy="402336"/>
          </a:xfrm>
          <a:prstGeom prst="rect">
            <a:avLst/>
          </a:prstGeom>
        </p:spPr>
      </p:pic>
      <p:sp>
        <p:nvSpPr>
          <p:cNvPr id="56" name="Text 33"/>
          <p:cNvSpPr/>
          <p:nvPr/>
        </p:nvSpPr>
        <p:spPr>
          <a:xfrm>
            <a:off x="2569464" y="609904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750" dirty="0"/>
          </a:p>
        </p:txBody>
      </p:sp>
      <p:sp>
        <p:nvSpPr>
          <p:cNvPr id="57" name="Shape 34"/>
          <p:cNvSpPr/>
          <p:nvPr/>
        </p:nvSpPr>
        <p:spPr>
          <a:xfrm>
            <a:off x="5175504" y="1005840"/>
            <a:ext cx="6693408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35"/>
          <p:cNvSpPr/>
          <p:nvPr/>
        </p:nvSpPr>
        <p:spPr>
          <a:xfrm>
            <a:off x="5394960" y="10972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FLOW  -  one agent step</a:t>
            </a:r>
            <a:endParaRPr lang="en-US" sz="1250" dirty="0"/>
          </a:p>
        </p:txBody>
      </p:sp>
      <p:sp>
        <p:nvSpPr>
          <p:cNvPr id="59" name="Shape 36"/>
          <p:cNvSpPr/>
          <p:nvPr/>
        </p:nvSpPr>
        <p:spPr>
          <a:xfrm>
            <a:off x="5394960" y="1481328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F1F5F8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0" name="Text 37"/>
          <p:cNvSpPr/>
          <p:nvPr/>
        </p:nvSpPr>
        <p:spPr>
          <a:xfrm>
            <a:off x="5468112" y="1536192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61" name="Text 38"/>
          <p:cNvSpPr/>
          <p:nvPr/>
        </p:nvSpPr>
        <p:spPr>
          <a:xfrm>
            <a:off x="5797296" y="153619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gesture</a:t>
            </a:r>
            <a:endParaRPr lang="en-US" sz="1050" dirty="0"/>
          </a:p>
        </p:txBody>
      </p:sp>
      <p:sp>
        <p:nvSpPr>
          <p:cNvPr id="62" name="Text 39"/>
          <p:cNvSpPr/>
          <p:nvPr/>
        </p:nvSpPr>
        <p:spPr>
          <a:xfrm>
            <a:off x="5797296" y="1755648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Toolbar click attaches one tab</a:t>
            </a:r>
            <a:endParaRPr lang="en-US" sz="850" dirty="0"/>
          </a:p>
        </p:txBody>
      </p:sp>
      <p:sp>
        <p:nvSpPr>
          <p:cNvPr id="63" name="Shape 40"/>
          <p:cNvSpPr/>
          <p:nvPr/>
        </p:nvSpPr>
        <p:spPr>
          <a:xfrm>
            <a:off x="8641080" y="1481328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F1F5F8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4" name="Text 41"/>
          <p:cNvSpPr/>
          <p:nvPr/>
        </p:nvSpPr>
        <p:spPr>
          <a:xfrm>
            <a:off x="8714232" y="1536192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65" name="Text 42"/>
          <p:cNvSpPr/>
          <p:nvPr/>
        </p:nvSpPr>
        <p:spPr>
          <a:xfrm>
            <a:off x="9043416" y="153619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 + capture</a:t>
            </a:r>
            <a:endParaRPr lang="en-US" sz="1050" dirty="0"/>
          </a:p>
        </p:txBody>
      </p:sp>
      <p:sp>
        <p:nvSpPr>
          <p:cNvPr id="66" name="Text 43"/>
          <p:cNvSpPr/>
          <p:nvPr/>
        </p:nvSpPr>
        <p:spPr>
          <a:xfrm>
            <a:off x="9043416" y="1755648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 clone, real geometry, screenshot</a:t>
            </a:r>
            <a:endParaRPr lang="en-US" sz="850" dirty="0"/>
          </a:p>
        </p:txBody>
      </p:sp>
      <p:sp>
        <p:nvSpPr>
          <p:cNvPr id="67" name="Shape 44"/>
          <p:cNvSpPr/>
          <p:nvPr/>
        </p:nvSpPr>
        <p:spPr>
          <a:xfrm>
            <a:off x="5394960" y="2139696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F1F5F8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8" name="Text 45"/>
          <p:cNvSpPr/>
          <p:nvPr/>
        </p:nvSpPr>
        <p:spPr>
          <a:xfrm>
            <a:off x="5468112" y="21945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69" name="Text 46"/>
          <p:cNvSpPr/>
          <p:nvPr/>
        </p:nvSpPr>
        <p:spPr>
          <a:xfrm>
            <a:off x="5797296" y="2194560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</a:t>
            </a:r>
            <a:endParaRPr lang="en-US" sz="1050" dirty="0"/>
          </a:p>
        </p:txBody>
      </p:sp>
      <p:sp>
        <p:nvSpPr>
          <p:cNvPr id="70" name="Text 47"/>
          <p:cNvSpPr/>
          <p:nvPr/>
        </p:nvSpPr>
        <p:spPr>
          <a:xfrm>
            <a:off x="5797296" y="2414016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YuNet vision + DOM PII scan</a:t>
            </a:r>
            <a:endParaRPr lang="en-US" sz="850" dirty="0"/>
          </a:p>
        </p:txBody>
      </p:sp>
      <p:sp>
        <p:nvSpPr>
          <p:cNvPr id="71" name="Shape 48"/>
          <p:cNvSpPr/>
          <p:nvPr/>
        </p:nvSpPr>
        <p:spPr>
          <a:xfrm>
            <a:off x="8641080" y="2139696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F1F5F8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2" name="Text 49"/>
          <p:cNvSpPr/>
          <p:nvPr/>
        </p:nvSpPr>
        <p:spPr>
          <a:xfrm>
            <a:off x="8714232" y="21945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500" dirty="0"/>
          </a:p>
        </p:txBody>
      </p:sp>
      <p:sp>
        <p:nvSpPr>
          <p:cNvPr id="73" name="Text 50"/>
          <p:cNvSpPr/>
          <p:nvPr/>
        </p:nvSpPr>
        <p:spPr>
          <a:xfrm>
            <a:off x="9043416" y="2194560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Redact</a:t>
            </a:r>
            <a:endParaRPr lang="en-US" sz="1050" dirty="0"/>
          </a:p>
        </p:txBody>
      </p:sp>
      <p:sp>
        <p:nvSpPr>
          <p:cNvPr id="74" name="Text 51"/>
          <p:cNvSpPr/>
          <p:nvPr/>
        </p:nvSpPr>
        <p:spPr>
          <a:xfrm>
            <a:off x="9043416" y="2414016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rewritten, pixels baked over</a:t>
            </a:r>
            <a:endParaRPr lang="en-US" sz="850" dirty="0"/>
          </a:p>
        </p:txBody>
      </p:sp>
      <p:sp>
        <p:nvSpPr>
          <p:cNvPr id="75" name="Shape 52"/>
          <p:cNvSpPr/>
          <p:nvPr/>
        </p:nvSpPr>
        <p:spPr>
          <a:xfrm>
            <a:off x="5394960" y="2798064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F1F5F8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6" name="Text 53"/>
          <p:cNvSpPr/>
          <p:nvPr/>
        </p:nvSpPr>
        <p:spPr>
          <a:xfrm>
            <a:off x="5468112" y="2852928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500" dirty="0"/>
          </a:p>
        </p:txBody>
      </p:sp>
      <p:sp>
        <p:nvSpPr>
          <p:cNvPr id="77" name="Text 54"/>
          <p:cNvSpPr/>
          <p:nvPr/>
        </p:nvSpPr>
        <p:spPr>
          <a:xfrm>
            <a:off x="5797296" y="2852928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Analyse</a:t>
            </a:r>
            <a:endParaRPr lang="en-US" sz="1050" dirty="0"/>
          </a:p>
        </p:txBody>
      </p:sp>
      <p:sp>
        <p:nvSpPr>
          <p:cNvPr id="78" name="Text 55"/>
          <p:cNvSpPr/>
          <p:nvPr/>
        </p:nvSpPr>
        <p:spPr>
          <a:xfrm>
            <a:off x="5797296" y="3072384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Statistics computed on this device</a:t>
            </a:r>
            <a:endParaRPr lang="en-US" sz="850" dirty="0"/>
          </a:p>
        </p:txBody>
      </p:sp>
      <p:sp>
        <p:nvSpPr>
          <p:cNvPr id="79" name="Shape 56"/>
          <p:cNvSpPr/>
          <p:nvPr/>
        </p:nvSpPr>
        <p:spPr>
          <a:xfrm>
            <a:off x="8641080" y="2798064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E7F2F0"/>
          </a:solidFill>
          <a:ln w="19050">
            <a:solidFill>
              <a:srgbClr val="0A7F74"/>
            </a:solidFill>
            <a:prstDash val="solid"/>
          </a:ln>
        </p:spPr>
      </p:sp>
      <p:sp>
        <p:nvSpPr>
          <p:cNvPr id="80" name="Text 57"/>
          <p:cNvSpPr/>
          <p:nvPr/>
        </p:nvSpPr>
        <p:spPr>
          <a:xfrm>
            <a:off x="8714232" y="2852928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500" dirty="0"/>
          </a:p>
        </p:txBody>
      </p:sp>
      <p:sp>
        <p:nvSpPr>
          <p:cNvPr id="81" name="Text 58"/>
          <p:cNvSpPr/>
          <p:nvPr/>
        </p:nvSpPr>
        <p:spPr>
          <a:xfrm>
            <a:off x="9043416" y="2852928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 + GATE 2</a:t>
            </a:r>
            <a:endParaRPr lang="en-US" sz="1050" dirty="0"/>
          </a:p>
        </p:txBody>
      </p:sp>
      <p:sp>
        <p:nvSpPr>
          <p:cNvPr id="82" name="Text 59"/>
          <p:cNvSpPr/>
          <p:nvPr/>
        </p:nvSpPr>
        <p:spPr>
          <a:xfrm>
            <a:off x="9043416" y="3072384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check, then PII re-scan</a:t>
            </a:r>
            <a:endParaRPr lang="en-US" sz="850" dirty="0"/>
          </a:p>
        </p:txBody>
      </p:sp>
      <p:sp>
        <p:nvSpPr>
          <p:cNvPr id="83" name="Shape 60"/>
          <p:cNvSpPr/>
          <p:nvPr/>
        </p:nvSpPr>
        <p:spPr>
          <a:xfrm>
            <a:off x="5394960" y="3456432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F1F5F8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4" name="Text 61"/>
          <p:cNvSpPr/>
          <p:nvPr/>
        </p:nvSpPr>
        <p:spPr>
          <a:xfrm>
            <a:off x="5468112" y="3511296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500" dirty="0"/>
          </a:p>
        </p:txBody>
      </p:sp>
      <p:sp>
        <p:nvSpPr>
          <p:cNvPr id="85" name="Text 62"/>
          <p:cNvSpPr/>
          <p:nvPr/>
        </p:nvSpPr>
        <p:spPr>
          <a:xfrm>
            <a:off x="5797296" y="3511296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50" dirty="0"/>
          </a:p>
        </p:txBody>
      </p:sp>
      <p:sp>
        <p:nvSpPr>
          <p:cNvPr id="86" name="Text 63"/>
          <p:cNvSpPr/>
          <p:nvPr/>
        </p:nvSpPr>
        <p:spPr>
          <a:xfrm>
            <a:off x="5797296" y="373075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VLM returns exactly ONE action</a:t>
            </a:r>
            <a:endParaRPr lang="en-US" sz="850" dirty="0"/>
          </a:p>
        </p:txBody>
      </p:sp>
      <p:sp>
        <p:nvSpPr>
          <p:cNvPr id="87" name="Shape 64"/>
          <p:cNvSpPr/>
          <p:nvPr/>
        </p:nvSpPr>
        <p:spPr>
          <a:xfrm>
            <a:off x="8641080" y="3456432"/>
            <a:ext cx="3063240" cy="566928"/>
          </a:xfrm>
          <a:prstGeom prst="roundRect">
            <a:avLst>
              <a:gd name="adj" fmla="val 19355"/>
            </a:avLst>
          </a:prstGeom>
          <a:solidFill>
            <a:srgbClr val="F1F5F8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8" name="Text 65"/>
          <p:cNvSpPr/>
          <p:nvPr/>
        </p:nvSpPr>
        <p:spPr>
          <a:xfrm>
            <a:off x="8714232" y="3511296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500" dirty="0"/>
          </a:p>
        </p:txBody>
      </p:sp>
      <p:sp>
        <p:nvSpPr>
          <p:cNvPr id="89" name="Text 66"/>
          <p:cNvSpPr/>
          <p:nvPr/>
        </p:nvSpPr>
        <p:spPr>
          <a:xfrm>
            <a:off x="9043416" y="3511296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+ execute</a:t>
            </a:r>
            <a:endParaRPr lang="en-US" sz="1050" dirty="0"/>
          </a:p>
        </p:txBody>
      </p:sp>
      <p:sp>
        <p:nvSpPr>
          <p:cNvPr id="90" name="Text 67"/>
          <p:cNvSpPr/>
          <p:nvPr/>
        </p:nvSpPr>
        <p:spPr>
          <a:xfrm>
            <a:off x="9043416" y="3730752"/>
            <a:ext cx="2606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 allowlist, then click or type</a:t>
            </a:r>
            <a:endParaRPr lang="en-US" sz="850" dirty="0"/>
          </a:p>
        </p:txBody>
      </p:sp>
      <p:sp>
        <p:nvSpPr>
          <p:cNvPr id="91" name="Shape 68"/>
          <p:cNvSpPr/>
          <p:nvPr/>
        </p:nvSpPr>
        <p:spPr>
          <a:xfrm>
            <a:off x="5175504" y="4379976"/>
            <a:ext cx="6693408" cy="2039112"/>
          </a:xfrm>
          <a:prstGeom prst="roundRect">
            <a:avLst>
              <a:gd name="adj" fmla="val 2691"/>
            </a:avLst>
          </a:prstGeom>
          <a:solidFill>
            <a:srgbClr val="E7F2F0"/>
          </a:solidFill>
          <a:ln w="12700">
            <a:solidFill>
              <a:srgbClr val="0A7F74"/>
            </a:solidFill>
            <a:prstDash val="solid"/>
          </a:ln>
        </p:spPr>
      </p:sp>
      <p:sp>
        <p:nvSpPr>
          <p:cNvPr id="92" name="Shape 69"/>
          <p:cNvSpPr/>
          <p:nvPr/>
        </p:nvSpPr>
        <p:spPr>
          <a:xfrm>
            <a:off x="5175504" y="4379976"/>
            <a:ext cx="64008" cy="2039112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93" name="Text 70"/>
          <p:cNvSpPr/>
          <p:nvPr/>
        </p:nvSpPr>
        <p:spPr>
          <a:xfrm>
            <a:off x="5376672" y="4471416"/>
            <a:ext cx="6327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Privacy Boundary  -  enforced by the compiler</a:t>
            </a:r>
            <a:endParaRPr lang="en-US" sz="1400" dirty="0"/>
          </a:p>
        </p:txBody>
      </p:sp>
      <p:sp>
        <p:nvSpPr>
          <p:cNvPr id="94" name="Text 71"/>
          <p:cNvSpPr/>
          <p:nvPr/>
        </p:nvSpPr>
        <p:spPr>
          <a:xfrm>
            <a:off x="5394960" y="4818888"/>
            <a:ext cx="6272784" cy="1490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Untrusted&lt;T&gt; is a real wrapper - JSON.stringify() of one yields {}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DataAtom is the only page-derived shape allowed on the wire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SanitizedContext / AnalysisResult: nominal, one minting site each, pinned by a test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renderPrompt() takes only DataAtom, so page text cannot become instruction</a:t>
            </a:r>
            <a:endParaRPr lang="en-US" sz="10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model may name only elements we sent it - a compromised server cannot widen that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54864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FEASIBILITY AND VIABILITY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573975" y="54864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REGEX  |  SIH26171  |  ISRO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295583" y="100584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pic>
        <p:nvPicPr>
          <p:cNvPr id="6" name="Image 0" descr="C:\Users\yashd\Downloads\SIH\ppt-assets\team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3871" y="118872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88696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challenge below was hit in this build; the right column is what was actually done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1148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" y="1335024"/>
            <a:ext cx="5577840" cy="347472"/>
          </a:xfrm>
          <a:prstGeom prst="rect">
            <a:avLst/>
          </a:prstGeom>
          <a:solidFill>
            <a:srgbClr val="A32B2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335024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71032" y="1335024"/>
            <a:ext cx="5897880" cy="347472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12" name="Text 9"/>
          <p:cNvSpPr/>
          <p:nvPr/>
        </p:nvSpPr>
        <p:spPr>
          <a:xfrm>
            <a:off x="6108192" y="1335024"/>
            <a:ext cx="5715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APPROACH TO OVERCOME IT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" y="1737360"/>
            <a:ext cx="5577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71032" y="1737360"/>
            <a:ext cx="58978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" y="1737360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MV3 service worker has no DOM, canvas or WebGPU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089904" y="1737360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runs in an Offscreen Document; a host abstraction hides it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2258568"/>
            <a:ext cx="557784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71032" y="2258568"/>
            <a:ext cx="589788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38912" y="2258568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Firefox has no offscreen API at all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089904" y="2258568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backends, one interface; Firefox uses its DOM-capable event page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0040" y="2779776"/>
            <a:ext cx="5577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71032" y="2779776"/>
            <a:ext cx="58978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8912" y="2779776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weights inflate the extension package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089904" y="2779776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Swapped yolos-tiny for YuNet: 26 MB to 232 KB, 1765 ms to 30.3 ms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20040" y="3300984"/>
            <a:ext cx="557784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71032" y="3300984"/>
            <a:ext cx="589788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38912" y="3300984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Redacted text beside a leaking screenshot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089904" y="3300984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 redaction in the worker; the step refuses an uncovered image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" y="3822192"/>
            <a:ext cx="5577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971032" y="3822192"/>
            <a:ext cx="58978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38912" y="3822192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hostile page forging our redaction tokens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089904" y="3822192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Per-session nonce; forgeries stripped at ingest and counted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0040" y="4343400"/>
            <a:ext cx="557784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971032" y="4343400"/>
            <a:ext cx="589788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8912" y="4343400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injection from page content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089904" y="4343400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text is DataAtom only, fenced, never in the instruction region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0040" y="4864608"/>
            <a:ext cx="5577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971032" y="4864608"/>
            <a:ext cx="58978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38912" y="4864608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Large pages exhausting the client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089904" y="4864608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quadratics removed: 378,745 ms to 367 ms; merge to 66 ms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320040" y="5385816"/>
            <a:ext cx="557784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971032" y="5385816"/>
            <a:ext cx="5897880" cy="475488"/>
          </a:xfrm>
          <a:prstGeom prst="rect">
            <a:avLst/>
          </a:prstGeom>
          <a:solidFill>
            <a:srgbClr val="F1F5F8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38912" y="5385816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model context windows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089904" y="5385816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sheds names, geometry, image, then elements - refs never renumber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20040" y="5907024"/>
            <a:ext cx="5577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71032" y="5907024"/>
            <a:ext cx="58978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38912" y="5907024"/>
            <a:ext cx="5376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failing backend silently becoming another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6089904" y="5907024"/>
            <a:ext cx="5687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silent fallback: only an explicit user selection changes it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54864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AND BENEFITS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573975" y="54864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REGEX  |  SIH26171  |  ISRO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295583" y="100584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pic>
        <p:nvPicPr>
          <p:cNvPr id="6" name="Image 0" descr="C:\Users\yashd\Downloads\SIH\ppt-assets\team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3871" y="118872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88696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Useful browser automation without unrestricted data sharing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1148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" y="1005840"/>
            <a:ext cx="3611880" cy="2395728"/>
          </a:xfrm>
          <a:prstGeom prst="roundRect">
            <a:avLst>
              <a:gd name="adj" fmla="val 2290"/>
            </a:avLst>
          </a:prstGeom>
          <a:solidFill>
            <a:srgbClr val="E7F2F0"/>
          </a:solidFill>
          <a:ln w="12700">
            <a:solidFill>
              <a:srgbClr val="0A7F7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0040" y="1005840"/>
            <a:ext cx="64008" cy="2395728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11" name="Text 8"/>
          <p:cNvSpPr/>
          <p:nvPr/>
        </p:nvSpPr>
        <p:spPr>
          <a:xfrm>
            <a:off x="521208" y="1097280"/>
            <a:ext cx="3246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Potential Impacts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39496" y="1444752"/>
            <a:ext cx="31912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without losing data sovereignty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help on regulated and classified screens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Auditable privacy instead of vendor promises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Lower inference cost through on-device compute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reusable privacy boundary for any agent</a:t>
            </a:r>
            <a:endParaRPr lang="en-US" sz="10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gains for screen-driven work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0040" y="3511296"/>
            <a:ext cx="3611880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360273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MEASURED, BEFORE vs AFTER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2920" y="391363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size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410565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MB  -&gt;  232 KB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926080" y="3931920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E7F2F0"/>
          </a:solidFill>
          <a:ln w="9525">
            <a:solidFill>
              <a:srgbClr val="0A7F7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926080" y="393192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113x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02920" y="4389120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Inference p50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02920" y="4581144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1765.8 ms  -&gt;  30.3 ms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2926080" y="4407408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E7F2F0"/>
          </a:solidFill>
          <a:ln w="9525">
            <a:solidFill>
              <a:srgbClr val="0A7F7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26080" y="4407408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58x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2920" y="486460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02920" y="505663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60.01 MB  -&gt;  33.54 MB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2926080" y="4882896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E7F2F0"/>
          </a:solidFill>
          <a:ln w="9525">
            <a:solidFill>
              <a:srgbClr val="0A7F7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926080" y="4882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02920" y="5340096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Redact 1k rows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02920" y="553212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378,745 ms  -&gt;  367 ms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926080" y="5358384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E7F2F0"/>
          </a:solidFill>
          <a:ln w="9525">
            <a:solidFill>
              <a:srgbClr val="0A7F7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926080" y="5358384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1032x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02920" y="581558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 100k rows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02920" y="600760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1,767,327 ms  -&gt;  66 ms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926080" y="5833872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E7F2F0"/>
          </a:solidFill>
          <a:ln w="9525">
            <a:solidFill>
              <a:srgbClr val="0A7F7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926080" y="5833872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~27000x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050792" y="1005840"/>
            <a:ext cx="3895344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12405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050792" y="1005840"/>
            <a:ext cx="64008" cy="2395728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37" name="Text 34"/>
          <p:cNvSpPr/>
          <p:nvPr/>
        </p:nvSpPr>
        <p:spPr>
          <a:xfrm>
            <a:off x="4251960" y="1097280"/>
            <a:ext cx="35295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ISRO / Government &amp; Defence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4270248" y="1444752"/>
            <a:ext cx="347472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Sensitive telemetry never leaves the workstation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Deployable fully air-gapped (on-device backend)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on-premise server option available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Per-step receipt gives a compliance audit trail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vendor lock-in - swap models freely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973568" y="1005840"/>
            <a:ext cx="3895344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B26A1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973568" y="1005840"/>
            <a:ext cx="64008" cy="2395728"/>
          </a:xfrm>
          <a:prstGeom prst="rect">
            <a:avLst/>
          </a:prstGeom>
          <a:solidFill>
            <a:srgbClr val="B26A10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1097280"/>
            <a:ext cx="35295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6A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Enterprise, Health &amp; Finance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8193024" y="1444752"/>
            <a:ext cx="347472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DPDP / GDPR / HIPAA-aligned by construction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and customer records stay on the device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Analyse 100,000-row tables without sending a row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Redaction proven by re-scanning the payload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boundary across local, private and cloud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4050792" y="3511296"/>
            <a:ext cx="3895344" cy="2907792"/>
          </a:xfrm>
          <a:prstGeom prst="roundRect">
            <a:avLst>
              <a:gd name="adj" fmla="val 1887"/>
            </a:avLst>
          </a:prstGeom>
          <a:solidFill>
            <a:srgbClr val="E7F2F0"/>
          </a:solidFill>
          <a:ln w="12700">
            <a:solidFill>
              <a:srgbClr val="0A7F7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050792" y="3511296"/>
            <a:ext cx="64008" cy="2907792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45" name="Text 42"/>
          <p:cNvSpPr/>
          <p:nvPr/>
        </p:nvSpPr>
        <p:spPr>
          <a:xfrm>
            <a:off x="4251960" y="3602736"/>
            <a:ext cx="35295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F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 Users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4270248" y="3950208"/>
            <a:ext cx="3474720" cy="2359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Passwords, OTPs and cards never reach any server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on ordinary hardware - 232 KB model, 30 ms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Sees exactly what was redacted, on every step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to configure: it opens ready to run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and Firefox, same behaviour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7973568" y="3511296"/>
            <a:ext cx="3895344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12700">
            <a:solidFill>
              <a:srgbClr val="12405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73568" y="3511296"/>
            <a:ext cx="64008" cy="2907792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49" name="Text 46"/>
          <p:cNvSpPr/>
          <p:nvPr/>
        </p:nvSpPr>
        <p:spPr>
          <a:xfrm>
            <a:off x="8174736" y="3602736"/>
            <a:ext cx="35295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&amp; Research</a:t>
            </a:r>
            <a:endParaRPr lang="en-US" sz="1400" dirty="0"/>
          </a:p>
        </p:txBody>
      </p:sp>
      <p:sp>
        <p:nvSpPr>
          <p:cNvPr id="50" name="Text 47"/>
          <p:cNvSpPr/>
          <p:nvPr/>
        </p:nvSpPr>
        <p:spPr>
          <a:xfrm>
            <a:off x="8193024" y="3950208"/>
            <a:ext cx="3474720" cy="2359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architecture with 1,133 automated tests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and type-level tests enforce the boundary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gaps documented rather than hidden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model-agnostic OpenAI-compatible server</a:t>
            </a:r>
            <a:endParaRPr lang="en-US" sz="115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2C3A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reusable pattern for any privacy-critical agent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405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54864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 AND REFERENCES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573975" y="54864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REGEX  |  SIH26171  |  ISRO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295583" y="100584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pic>
        <p:nvPicPr>
          <p:cNvPr id="6" name="Image 0" descr="C:\Users\yashd\Downloads\SIH\ppt-assets\team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3871" y="118872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88696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foundations this project is built 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1148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" y="1051560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0040" y="1051560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" y="1115568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YuNet: A Tiny Millisecond-level Face Detector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84632" y="1344168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Wu, Peng, Yu et al., Machine Intelligence Research, 2023</a:t>
            </a:r>
            <a:endParaRPr lang="en-US" sz="850" dirty="0"/>
          </a:p>
        </p:txBody>
      </p:sp>
      <p:sp>
        <p:nvSpPr>
          <p:cNvPr id="13" name="Text 10">
            <a:hlinkClick r:id="rId2" tooltip=""/>
          </p:cNvPr>
          <p:cNvSpPr/>
          <p:nvPr/>
        </p:nvSpPr>
        <p:spPr>
          <a:xfrm>
            <a:off x="484632" y="15544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https://doi.org/10.1007/s11633-023-1423-y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190488" y="1051560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90488" y="1051560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16" name="Text 13"/>
          <p:cNvSpPr/>
          <p:nvPr/>
        </p:nvSpPr>
        <p:spPr>
          <a:xfrm>
            <a:off x="6355080" y="1115568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libfacedetection - reference implementation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355080" y="1344168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Shiqi Yu et al.</a:t>
            </a:r>
            <a:endParaRPr lang="en-US" sz="850" dirty="0"/>
          </a:p>
        </p:txBody>
      </p:sp>
      <p:sp>
        <p:nvSpPr>
          <p:cNvPr id="18" name="Text 15">
            <a:hlinkClick r:id="rId3" tooltip=""/>
          </p:cNvPr>
          <p:cNvSpPr/>
          <p:nvPr/>
        </p:nvSpPr>
        <p:spPr>
          <a:xfrm>
            <a:off x="6355080" y="15544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https://github.com/ShiqiYu/libfacedetection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20040" y="2020824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20040" y="2020824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21" name="Text 18"/>
          <p:cNvSpPr/>
          <p:nvPr/>
        </p:nvSpPr>
        <p:spPr>
          <a:xfrm>
            <a:off x="484632" y="2084832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ONNX Runtime Web - in-browser inference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84632" y="2313432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WebGPU and WebAssembly execution providers</a:t>
            </a:r>
            <a:endParaRPr lang="en-US" sz="850" dirty="0"/>
          </a:p>
        </p:txBody>
      </p:sp>
      <p:sp>
        <p:nvSpPr>
          <p:cNvPr id="23" name="Text 20">
            <a:hlinkClick r:id="rId4" tooltip=""/>
          </p:cNvPr>
          <p:cNvSpPr/>
          <p:nvPr/>
        </p:nvSpPr>
        <p:spPr>
          <a:xfrm>
            <a:off x="484632" y="2523744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https://onnxruntime.ai/docs/tutorials/web/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190488" y="2020824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90488" y="2020824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26" name="Text 23"/>
          <p:cNvSpPr/>
          <p:nvPr/>
        </p:nvSpPr>
        <p:spPr>
          <a:xfrm>
            <a:off x="6355080" y="2084832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W3C WebGPU Specification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355080" y="2313432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GPU compute in the browser</a:t>
            </a:r>
            <a:endParaRPr lang="en-US" sz="850" dirty="0"/>
          </a:p>
        </p:txBody>
      </p:sp>
      <p:sp>
        <p:nvSpPr>
          <p:cNvPr id="28" name="Text 25">
            <a:hlinkClick r:id="rId5" tooltip=""/>
          </p:cNvPr>
          <p:cNvSpPr/>
          <p:nvPr/>
        </p:nvSpPr>
        <p:spPr>
          <a:xfrm>
            <a:off x="6355080" y="2523744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https://www.w3.org/TR/webgpu/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20040" y="2990088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20040" y="2990088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31" name="Text 28"/>
          <p:cNvSpPr/>
          <p:nvPr/>
        </p:nvSpPr>
        <p:spPr>
          <a:xfrm>
            <a:off x="484632" y="3054096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Extensions - Offscreen Documents API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84632" y="3282696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only MV3 context with a DOM for workers</a:t>
            </a:r>
            <a:endParaRPr lang="en-US" sz="850" dirty="0"/>
          </a:p>
        </p:txBody>
      </p:sp>
      <p:sp>
        <p:nvSpPr>
          <p:cNvPr id="33" name="Text 30">
            <a:hlinkClick r:id="rId6" tooltip=""/>
          </p:cNvPr>
          <p:cNvSpPr/>
          <p:nvPr/>
        </p:nvSpPr>
        <p:spPr>
          <a:xfrm>
            <a:off x="484632" y="349300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https://developer.chrome.com/docs/extensions/reference/api/offscreen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190488" y="2990088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190488" y="2990088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36" name="Text 33"/>
          <p:cNvSpPr/>
          <p:nvPr/>
        </p:nvSpPr>
        <p:spPr>
          <a:xfrm>
            <a:off x="6355080" y="3054096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Firefox MV3 background scripts / no offscreen API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355080" y="3282696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Bugzilla 1573659</a:t>
            </a:r>
            <a:endParaRPr lang="en-US" sz="850" dirty="0"/>
          </a:p>
        </p:txBody>
      </p:sp>
      <p:sp>
        <p:nvSpPr>
          <p:cNvPr id="38" name="Text 35">
            <a:hlinkClick r:id="rId7" tooltip=""/>
          </p:cNvPr>
          <p:cNvSpPr/>
          <p:nvPr/>
        </p:nvSpPr>
        <p:spPr>
          <a:xfrm>
            <a:off x="6355080" y="349300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https://bugzilla.mozilla.org/show_bug.cgi?id=1573659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20040" y="3959352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20040" y="3959352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41" name="Text 38"/>
          <p:cNvSpPr/>
          <p:nvPr/>
        </p:nvSpPr>
        <p:spPr>
          <a:xfrm>
            <a:off x="484632" y="4023360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Top 10 for LLM Applications - LLM01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84632" y="4251960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injection threat model</a:t>
            </a:r>
            <a:endParaRPr lang="en-US" sz="850" dirty="0"/>
          </a:p>
        </p:txBody>
      </p:sp>
      <p:sp>
        <p:nvSpPr>
          <p:cNvPr id="43" name="Text 40">
            <a:hlinkClick r:id="rId8" tooltip=""/>
          </p:cNvPr>
          <p:cNvSpPr/>
          <p:nvPr/>
        </p:nvSpPr>
        <p:spPr>
          <a:xfrm>
            <a:off x="484632" y="44622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https://owasp.org/www-project-top-10-for-large-language-model-applications/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6190488" y="3959352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190488" y="3959352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46" name="Text 43"/>
          <p:cNvSpPr/>
          <p:nvPr/>
        </p:nvSpPr>
        <p:spPr>
          <a:xfrm>
            <a:off x="6355080" y="4023360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NIST SP 800-122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355080" y="4251960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Protecting the Confidentiality of PII</a:t>
            </a:r>
            <a:endParaRPr lang="en-US" sz="850" dirty="0"/>
          </a:p>
        </p:txBody>
      </p:sp>
      <p:sp>
        <p:nvSpPr>
          <p:cNvPr id="48" name="Text 45">
            <a:hlinkClick r:id="rId9" tooltip=""/>
          </p:cNvPr>
          <p:cNvSpPr/>
          <p:nvPr/>
        </p:nvSpPr>
        <p:spPr>
          <a:xfrm>
            <a:off x="6355080" y="44622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https://doi.org/10.6028/NIST.SP.800-122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20040" y="4928616"/>
            <a:ext cx="56692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20040" y="4928616"/>
            <a:ext cx="50292" cy="859536"/>
          </a:xfrm>
          <a:prstGeom prst="rect">
            <a:avLst/>
          </a:prstGeom>
          <a:solidFill>
            <a:srgbClr val="0A7F74"/>
          </a:solidFill>
          <a:ln/>
        </p:spPr>
      </p:sp>
      <p:sp>
        <p:nvSpPr>
          <p:cNvPr id="51" name="Text 48"/>
          <p:cNvSpPr/>
          <p:nvPr/>
        </p:nvSpPr>
        <p:spPr>
          <a:xfrm>
            <a:off x="484632" y="4992624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Personal Data Protection Act, 2023 (India)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484632" y="5221224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Statutory basis for on-device processing</a:t>
            </a:r>
            <a:endParaRPr lang="en-US" sz="850" dirty="0"/>
          </a:p>
        </p:txBody>
      </p:sp>
      <p:sp>
        <p:nvSpPr>
          <p:cNvPr id="53" name="Text 50">
            <a:hlinkClick r:id="rId10" tooltip=""/>
          </p:cNvPr>
          <p:cNvSpPr/>
          <p:nvPr/>
        </p:nvSpPr>
        <p:spPr>
          <a:xfrm>
            <a:off x="484632" y="543153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2405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https://www.meity.gov.in/data-protection-framework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6190488" y="5943600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12405C"/>
          </a:solidFill>
          <a:ln/>
        </p:spPr>
      </p:sp>
      <p:sp>
        <p:nvSpPr>
          <p:cNvPr id="55" name="Text 52">
            <a:hlinkClick r:id="rId11" tooltip=""/>
          </p:cNvPr>
          <p:cNvSpPr/>
          <p:nvPr/>
        </p:nvSpPr>
        <p:spPr>
          <a:xfrm>
            <a:off x="6355080" y="5943600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repository  -  github.com/yassudicoder/Privacy-Preserving-Vision-Agent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SIH26171 - Privacy-Preserving Vision Agent</dc:title>
  <dc:subject>PptxGenJS Presentation</dc:subject>
  <dc:creator>SIH26171</dc:creator>
  <cp:lastModifiedBy>SIH26171</cp:lastModifiedBy>
  <cp:revision>1</cp:revision>
  <dcterms:created xsi:type="dcterms:W3CDTF">2026-09-08T16:03:44Z</dcterms:created>
  <dcterms:modified xsi:type="dcterms:W3CDTF">2026-09-08T16:03:44Z</dcterms:modified>
</cp:coreProperties>
</file>